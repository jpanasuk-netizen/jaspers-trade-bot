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roles, same doctrine: the model judges, code executes, the gate can only say no. No one on this stack can push a button and bypass the risk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sentence. The logos are the stack we actually call, not a logo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Sami’s journey map: competitors solve a slice. We sit under the whole strip from signal to settlement.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differentiator diagram. This is the slide that explains why we are not a tips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Stickiness is not a SaaS contract — it’s the HUD + ledger + panic button making manual trading feel unsafe by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maps Sami’s business-model table onto the desk’s real knobs and their evolution. No invented ARR.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Sami’s revenue slide becomes our live scoreboard. We do not invent ARR. Recover-mode is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 sales pipeline — the actual decision funnel from the spin ledger. Investors should see where value leaks.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real ledger row. Quote the Jev reason strip. Show that the product is the audit trail, not a lucky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→ 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6EFE6"/>
                </a:solidFill>
                <a:latin typeface="Calibri"/>
              </a:rPr>
              <a:t>A builder, a judge, and a code-owned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23444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241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2691E"/>
                </a:solidFill>
                <a:latin typeface="Consolas"/>
              </a:rPr>
              <a:t>JEREMY —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102412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6EFE6"/>
                </a:solidFill>
                <a:latin typeface="Calibri"/>
              </a:rPr>
              <a:t>Built Jasper’s Trade Bot end-to-end: fast-ahead feed, live HUD, hard risk gate, and the Windows desk launcher. Ships the public repo disarmed — no keys, no strategy secrets. Owns the rule that code places orders, never the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73152" cy="1234440"/>
          </a:xfrm>
          <a:prstGeom prst="rect">
            <a:avLst/>
          </a:prstGeom>
          <a:solidFill>
            <a:srgbClr val="B7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241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79A86"/>
                </a:solidFill>
                <a:latin typeface="Consolas"/>
              </a:rPr>
              <a:t>JEV / TYPESAFE SYSTEM ONE — THE 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102412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6EFE6"/>
                </a:solidFill>
                <a:latin typeface="Calibri"/>
              </a:rPr>
              <a:t>Pinned jev-1.13.0, typed battery (side, regime, toxic flow, signal quality, escalation). Named side only — it cannot size, enter, or cancel. If the battery says SKIP, the window is skipped.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26280"/>
            <a:ext cx="73152" cy="1234440"/>
          </a:xfrm>
          <a:prstGeom prst="rect">
            <a:avLst/>
          </a:prstGeom>
          <a:solidFill>
            <a:srgbClr val="B7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241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79A86"/>
                </a:solidFill>
                <a:latin typeface="Consolas"/>
              </a:rPr>
              <a:t>RISK GATE + EXECUTE — THE 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73752"/>
            <a:ext cx="102412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6EFE6"/>
                </a:solidFill>
                <a:latin typeface="Calibri"/>
              </a:rPr>
              <a:t>Absolute veto layer: kill switch, day-stop, confidence, book integrity, exposure, freshness. Then IOC orders on Kalshi. A wrong pick cannot become a wrong fill through a missing 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6EFE6"/>
                </a:solidFill>
                <a:latin typeface="Calibri"/>
              </a:rPr>
              <a:t>We trade the 15-minute Bitcoin window on Kalshi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D2691E"/>
                </a:solidFill>
                <a:latin typeface="Calibri"/>
              </a:rPr>
              <a:t>code executes. A typed model only judges. 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9A86"/>
                </a:solidFill>
                <a:latin typeface="Consolas"/>
              </a:rPr>
              <a:t>KALSHI  KXBTC15M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6634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9A86"/>
                </a:solidFill>
                <a:latin typeface="Consolas"/>
              </a:rPr>
              <a:t>TYPESAFE  /  JEV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9A86"/>
                </a:solidFill>
                <a:latin typeface="Consolas"/>
              </a:rPr>
              <a:t>QUANTDINGER-BTC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6634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9A86"/>
                </a:solidFill>
                <a:latin typeface="Consolas"/>
              </a:rPr>
              <a:t>BTCC  SIGNAL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Live HUD · decision history · kill / panic · local keys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51615" cy="6345936"/>
          </a:xfrm>
          <a:prstGeom prst="rect">
            <a:avLst/>
          </a:prstGeom>
          <a:noFill/>
          <a:ln w="11430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→ 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6EFE6"/>
                </a:solidFill>
                <a:latin typeface="Calibri"/>
              </a:rPr>
              <a:t>Everyone stops before the order. The desk owns the full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SIGNAL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40280" y="2176272"/>
            <a:ext cx="320040" cy="164592"/>
          </a:xfrm>
          <a:prstGeom prst="rightArrow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06040" y="20116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121408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JUDGE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2176272"/>
            <a:ext cx="320040" cy="164592"/>
          </a:xfrm>
          <a:prstGeom prst="rightArrow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20116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121408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SIZE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97880" y="2176272"/>
            <a:ext cx="320040" cy="164592"/>
          </a:xfrm>
          <a:prstGeom prst="rightArrow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20116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121408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GATE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26680" y="2176272"/>
            <a:ext cx="320040" cy="164592"/>
          </a:xfrm>
          <a:prstGeom prst="rightArrow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20116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21408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FILL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55480" y="2176272"/>
            <a:ext cx="320040" cy="164592"/>
          </a:xfrm>
          <a:prstGeom prst="rightArrow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21240" y="20116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121408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SETTLE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880360"/>
            <a:ext cx="6583680" cy="2377440"/>
          </a:xfrm>
          <a:prstGeom prst="rect">
            <a:avLst/>
          </a:prstGeom>
          <a:solidFill>
            <a:srgbClr val="3A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01752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EVERYONE ELSE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429000"/>
            <a:ext cx="6217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Manual tips / CT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70332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alibri"/>
              </a:rPr>
              <a:t>No gate. No sizing. No settlement discipline.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69080"/>
            <a:ext cx="6217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Generic algo bots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34340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alibri"/>
              </a:rPr>
              <a:t>Blind thresholds. No typed judge. No book integrity.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709160"/>
            <a:ext cx="6217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Copy-trading / 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alibri"/>
              </a:rPr>
              <a:t>You inherit someone else’s risk. No local kill switch.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2880360"/>
            <a:ext cx="3657600" cy="2377440"/>
          </a:xfrm>
          <a:prstGeom prst="rect">
            <a:avLst/>
          </a:prstGeom>
          <a:solidFill>
            <a:srgbClr val="2A1812"/>
          </a:solidFill>
          <a:ln w="1905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0175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THE DESK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429000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→  Typed JEV battery names the 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77647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→  Hard risk gate can only veto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123944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→  Code owns size, price, IOC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471416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→  Book integrity blocks junk prints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81888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→  Every window is ledgered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51615" cy="6345936"/>
          </a:xfrm>
          <a:prstGeom prst="rect">
            <a:avLst/>
          </a:prstGeom>
          <a:noFill/>
          <a:ln w="11430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→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6EFE6"/>
                </a:solidFill>
                <a:latin typeface="Calibri"/>
              </a:rPr>
              <a:t>The judge can name a side. It cannot place the trade.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0312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5176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6EFE6"/>
                </a:solidFill>
                <a:latin typeface="Calibri"/>
              </a:rPr>
              <a:t>Deterministic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10896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HMM regime · BOCPD · OFI · VPIN · Hurst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2834640"/>
            <a:ext cx="411480" cy="201168"/>
          </a:xfrm>
          <a:prstGeom prst="rightArrow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10312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2860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LAYER 1.5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5176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6EFE6"/>
                </a:solidFill>
                <a:latin typeface="Calibri"/>
              </a:rPr>
              <a:t>JEV typed battery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10896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side · confidence · toxic flow · SKIP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80960" y="2834640"/>
            <a:ext cx="411480" cy="201168"/>
          </a:xfrm>
          <a:prstGeom prst="rightArrow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5176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6EFE6"/>
                </a:solidFill>
                <a:latin typeface="Calibri"/>
              </a:rPr>
              <a:t>Code + risk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0896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IOC order · caps · kill switch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45C4A"/>
                </a:solidFill>
                <a:latin typeface="Consolas"/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006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6EFE6"/>
                </a:solidFill>
                <a:latin typeface="Calibri"/>
              </a:rPr>
              <a:t>Model places an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805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45C4A"/>
                </a:solidFill>
                <a:latin typeface="Consolas"/>
              </a:rPr>
              <a:t>NEVER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006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6EFE6"/>
                </a:solidFill>
                <a:latin typeface="Calibri"/>
              </a:rPr>
              <a:t>Stake grows past the cap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4805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45C4A"/>
                </a:solidFill>
                <a:latin typeface="Consolas"/>
              </a:rPr>
              <a:t>NEVER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8006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6EFE6"/>
                </a:solidFill>
                <a:latin typeface="Calibri"/>
              </a:rPr>
              <a:t>Trade on a junk 0.001/0.999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2356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79A86"/>
                </a:solidFill>
                <a:latin typeface="Calibri"/>
              </a:rPr>
              <a:t>If the battery says SKIP, the window is skipped — a leaned YES is not traded through a skip.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→ 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6EFE6"/>
                </a:solidFill>
                <a:latin typeface="Calibri"/>
              </a:rPr>
              <a:t>The operator never has to leave the desk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2691E"/>
                </a:solidFill>
                <a:latin typeface="Consolas"/>
              </a:rPr>
              <a:t>LIVE HUD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Charts, trade-gate R/Y/G, BTCC board, quant lab, OVER/UNDER open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73736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7" y="193852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2691E"/>
                </a:solidFill>
                <a:latin typeface="Consolas"/>
              </a:rPr>
              <a:t>HISTORY :3002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7" y="233172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Every spin, skip, fill, and reason. Replayable ledger — not a vibes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73736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3852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2691E"/>
                </a:solidFill>
                <a:latin typeface="Consolas"/>
              </a:rPr>
              <a:t>DESK.EXE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33172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Stop · Panic (kill file + disarm) · Open HUD. Keys stay in WSL .env.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0448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2691E"/>
                </a:solidFill>
                <a:latin typeface="Consolas"/>
              </a:rPr>
              <a:t>HARD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9768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Day-stop, confidence floor, entry ceiling, book integrity, exposure cap.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19" y="370332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7" y="390448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2691E"/>
                </a:solidFill>
                <a:latin typeface="Consolas"/>
              </a:rPr>
              <a:t>RECOVER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7" y="429768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Target $6 climb-back. No auto 500x. Stake stays a clip, not a YOLO.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70332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90448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2691E"/>
                </a:solidFill>
                <a:latin typeface="Consolas"/>
              </a:rPr>
              <a:t>PUBLIC + DISARMED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429768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The repo ships without strategy secrets or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→ 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6EFE6"/>
                </a:solidFill>
                <a:latin typeface="Calibri"/>
              </a:rPr>
              <a:t>Unit economics of a capped 15-minute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332720" cy="475488"/>
          </a:xfrm>
          <a:prstGeom prst="rect">
            <a:avLst/>
          </a:prstGeom>
          <a:solidFill>
            <a:srgbClr val="8A4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6EFE6"/>
                </a:solidFill>
                <a:latin typeface="Consolas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83080"/>
            <a:ext cx="2880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6EFE6"/>
                </a:solidFill>
                <a:latin typeface="Consola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783080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6EFE6"/>
                </a:solidFill>
                <a:latin typeface="Consolas"/>
              </a:rPr>
              <a:t>EARLIER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8308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6EFE6"/>
                </a:solidFill>
                <a:latin typeface="Consolas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58568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2691E"/>
                </a:solidFill>
                <a:latin typeface="Calibri"/>
              </a:rPr>
              <a:t>ICP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58568"/>
            <a:ext cx="2880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alibri"/>
              </a:rPr>
              <a:t>Operator running $2–$4 clips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258568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Same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58568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Small bankroll, hard day-stop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42616"/>
            <a:ext cx="10332720" cy="475488"/>
          </a:xfrm>
          <a:prstGeom prst="rect">
            <a:avLst/>
          </a:prstGeom>
          <a:solidFill>
            <a:srgbClr val="3A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34056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2691E"/>
                </a:solidFill>
                <a:latin typeface="Calibri"/>
              </a:rPr>
              <a:t>Stake /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734056"/>
            <a:ext cx="2880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alibri"/>
              </a:rPr>
              <a:t>$4.20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34056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$2.00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734056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FORCE_FULL_CLIP when cash allows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9544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2691E"/>
                </a:solidFill>
                <a:latin typeface="Calibri"/>
              </a:rPr>
              <a:t>Entry 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209544"/>
            <a:ext cx="2880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alibri"/>
              </a:rPr>
              <a:t>0.20 – 0.72 (+ conf bump)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209544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0.20 – 0.65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209544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DYNAMIC_CEIL to 0.84 on conf≥0.75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93592"/>
            <a:ext cx="10332720" cy="475488"/>
          </a:xfrm>
          <a:prstGeom prst="rect">
            <a:avLst/>
          </a:prstGeom>
          <a:solidFill>
            <a:srgbClr val="3A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85032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2691E"/>
                </a:solidFill>
                <a:latin typeface="Calibri"/>
              </a:rPr>
              <a:t>Side floor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685032"/>
            <a:ext cx="2880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alibri"/>
              </a:rPr>
              <a:t>Jev conf ≥ 0.45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685032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0.70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685032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Loosened; SKIP still binds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2691E"/>
                </a:solidFill>
                <a:latin typeface="Calibri"/>
              </a:rPr>
              <a:t>Cost to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160520"/>
            <a:ext cx="2880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alibri"/>
              </a:rPr>
              <a:t>~$0 VM + TypeSafe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160520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Same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16052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No GPU. Local WSL.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44568"/>
            <a:ext cx="10332720" cy="475488"/>
          </a:xfrm>
          <a:prstGeom prst="rect">
            <a:avLst/>
          </a:prstGeom>
          <a:solidFill>
            <a:srgbClr val="3A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36008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2691E"/>
                </a:solidFill>
                <a:latin typeface="Calibri"/>
              </a:rPr>
              <a:t>Margin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636008"/>
            <a:ext cx="2880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alibri"/>
              </a:rPr>
              <a:t>Never pay &gt; fair − cushion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636008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Same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636008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SKIP_NO_EDGE when broken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111496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2691E"/>
                </a:solidFill>
                <a:latin typeface="Calibri"/>
              </a:rPr>
              <a:t>Leverage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111496"/>
            <a:ext cx="2880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alibri"/>
              </a:rPr>
              <a:t>None. No auto 500x.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5111496"/>
            <a:ext cx="1874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Same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5111496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Kalshi stake cap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→  LIVE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6EFE6"/>
                </a:solidFill>
                <a:latin typeface="Calibri"/>
              </a:rPr>
              <a:t>67 fills · 40–26 · still recover-mode dollars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6EFE6"/>
                </a:solidFill>
                <a:latin typeface="Calibri"/>
              </a:rPr>
              <a:t>4,822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spins logged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D2691E"/>
                </a:solidFill>
                <a:latin typeface="Calibri"/>
              </a:rPr>
              <a:t>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live fills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E8A87C"/>
                </a:solidFill>
                <a:latin typeface="Calibri"/>
              </a:rPr>
              <a:t>60.6%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974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hit rate (40–26)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69164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C45C4A"/>
                </a:solidFill>
                <a:latin typeface="Calibri"/>
              </a:rPr>
              <a:t>−$7.21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974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realized PnL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RESULT MIX (SPIN LEDGER)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NO_ACTIVE_MARKET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059936"/>
            <a:ext cx="6583680" cy="201168"/>
          </a:xfrm>
          <a:prstGeom prst="rect">
            <a:avLst/>
          </a:prstGeom>
          <a:solidFill>
            <a:srgbClr val="B7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4023360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3,922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07408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RISK_GATE_BLOCK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4443984"/>
            <a:ext cx="2409086" cy="201168"/>
          </a:xfrm>
          <a:prstGeom prst="rect">
            <a:avLst/>
          </a:prstGeom>
          <a:solidFill>
            <a:srgbClr val="8A4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7774" y="440740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91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LIVE_SENT_NO_FILL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828032"/>
            <a:ext cx="1370950" cy="201168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9638" y="4791456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75504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LIVE_FILLED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5212080"/>
            <a:ext cx="1054687" cy="201168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3375" y="5175504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5955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onsolas"/>
              </a:rPr>
              <a:t>SKIP_* family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5596128"/>
            <a:ext cx="1865734" cy="201168"/>
          </a:xfrm>
          <a:prstGeom prst="rect">
            <a:avLst/>
          </a:prstGeom>
          <a:solidFill>
            <a:srgbClr val="B7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422" y="55595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6EFE6"/>
                </a:solidFill>
                <a:latin typeface="Consolas"/>
              </a:rPr>
              <a:t>238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977639"/>
            <a:ext cx="32004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6EFE6"/>
                </a:solidFill>
                <a:latin typeface="Calibri"/>
              </a:rPr>
              <a:t>Honest read:
Hit rate is real. Dollars are small on purpose — recover mode, $4.20 stake cap, day-stop. The product of the last week is the gate + ledger, not the PnL.
Sharpe is labeled not-a-health-light.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51615" cy="6345936"/>
          </a:xfrm>
          <a:prstGeom prst="rect">
            <a:avLst/>
          </a:prstGeom>
          <a:noFill/>
          <a:ln w="11430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→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105156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6EFE6"/>
                </a:solidFill>
                <a:latin typeface="Calibri"/>
              </a:rPr>
              <a:t>Decision funnel — our version of a GTM waterfall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0241280" cy="621792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9280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Spins evaluated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92808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2691E"/>
                </a:solidFill>
                <a:latin typeface="Consolas"/>
              </a:rPr>
              <a:t>4,822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11096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every ~4s poll across 15m windows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496312"/>
            <a:ext cx="10104119" cy="621792"/>
          </a:xfrm>
          <a:prstGeom prst="roundRect">
            <a:avLst>
              <a:gd name="adj" fmla="val 8000"/>
            </a:avLst>
          </a:prstGeom>
          <a:solidFill>
            <a:srgbClr val="2A1812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Active market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60604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2691E"/>
                </a:solidFill>
                <a:latin typeface="Consolas"/>
              </a:rPr>
              <a:t>~900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624328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rest are NO_ACTIVE_MARKET between rolls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209544"/>
            <a:ext cx="9966959" cy="621792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319272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Jev CONTINUE + 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319272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2691E"/>
                </a:solidFill>
                <a:latin typeface="Consolas"/>
              </a:rPr>
              <a:t>~600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33756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route=SKIP is not traded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922776"/>
            <a:ext cx="9829800" cy="621792"/>
          </a:xfrm>
          <a:prstGeom prst="roundRect">
            <a:avLst>
              <a:gd name="adj" fmla="val 8000"/>
            </a:avLst>
          </a:prstGeom>
          <a:solidFill>
            <a:srgbClr val="2A1812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032504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Risk gate ALLOW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032504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2691E"/>
                </a:solidFill>
                <a:latin typeface="Consolas"/>
              </a:rPr>
              <a:t>~420 blocks avoided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05079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book integrity, freshness, day-stop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636008"/>
            <a:ext cx="9692640" cy="621792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4745736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Orders 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745736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2691E"/>
                </a:solidFill>
                <a:latin typeface="Consolas"/>
              </a:rPr>
              <a:t>187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64024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120 came back unfilled (IOC)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5349240"/>
            <a:ext cx="9555480" cy="621792"/>
          </a:xfrm>
          <a:prstGeom prst="roundRect">
            <a:avLst>
              <a:gd name="adj" fmla="val 8000"/>
            </a:avLst>
          </a:prstGeom>
          <a:solidFill>
            <a:srgbClr val="2A1812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545896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6EFE6"/>
                </a:solidFill>
                <a:latin typeface="Calibri"/>
              </a:rPr>
              <a:t>Fills held to settlement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458968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2691E"/>
                </a:solidFill>
                <a:latin typeface="Consolas"/>
              </a:rPr>
              <a:t>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5477256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9A86"/>
                </a:solidFill>
                <a:latin typeface="Calibri"/>
              </a:rPr>
              <a:t>40 win · 26 loss · 0 push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B79A86"/>
                </a:solidFill>
                <a:latin typeface="Calibri"/>
              </a:rPr>
              <a:t>Where we go next: fix the unfilled leg (book integrity + re-quote), then widen the desk to more operators.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3550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79A86"/>
                </a:solidFill>
                <a:latin typeface="Consolas"/>
              </a:rPr>
              <a:t>JASPER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57255" y="6601968"/>
            <a:ext cx="868680" cy="0"/>
          </a:xfrm>
          <a:prstGeom prst="line">
            <a:avLst/>
          </a:prstGeom>
          <a:ln w="12700">
            <a:solidFill>
              <a:srgbClr val="D269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→ 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6858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6EFE6"/>
                </a:solidFill>
                <a:latin typeface="Calibri"/>
              </a:rPr>
              <a:t>One window, full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766560" cy="4206240"/>
          </a:xfrm>
          <a:prstGeom prst="roundRect">
            <a:avLst>
              <a:gd name="adj" fmla="val 8000"/>
            </a:avLst>
          </a:prstGeom>
          <a:solidFill>
            <a:srgbClr val="3A241A"/>
          </a:solidFill>
          <a:ln w="9525">
            <a:solidFill>
              <a:srgbClr val="8A4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2691E"/>
                </a:solidFill>
                <a:latin typeface="Consolas"/>
              </a:rPr>
              <a:t>2026-09-29 · KXBTC15M-26SEP290030-30 · YES @ 0.83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F6EFE6"/>
                </a:solidFill>
                <a:latin typeface="Calibri"/>
              </a:rPr>
              <a:t>“Jev YES. conf=0.93 · q=1.8 · consist=0.65 · esc=0.38 · regime=informed_flow. Risk gate ALLOW — 17 checks, 0 failed. Spike faded to paper; live ticket stayed Jev’s named side.”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A87C"/>
                </a:solidFill>
                <a:latin typeface="Calibri"/>
              </a:rPr>
              <a:t>SETTLED YES · +$0.21 on $1.14 clipped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6217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9A86"/>
                </a:solidFill>
                <a:latin typeface="Calibri"/>
              </a:rPr>
              <a:t>The win is boring on purpose. The interesting result is that every gate left a row in the ledger — including the ones that would have been a better story if they had fired.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45920"/>
            <a:ext cx="3657600" cy="4206240"/>
          </a:xfrm>
          <a:prstGeom prst="rect">
            <a:avLst/>
          </a:prstGeom>
          <a:solidFill>
            <a:srgbClr val="2A1812"/>
          </a:solidFill>
          <a:ln w="1905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9202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2691E"/>
                </a:solidFill>
                <a:latin typeface="Consolas"/>
              </a:rPr>
              <a:t>WINDOW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23160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23160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FE6"/>
                </a:solidFill>
                <a:latin typeface="Consolas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0720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80720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FE6"/>
                </a:solidFill>
                <a:latin typeface="Consolas"/>
              </a:rPr>
              <a:t>0.83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191256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Jev conf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191256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FE6"/>
                </a:solidFill>
                <a:latin typeface="Consolas"/>
              </a:rPr>
              <a:t>0.93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75304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Signal 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575304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FE6"/>
                </a:solidFill>
                <a:latin typeface="Consolas"/>
              </a:rPr>
              <a:t>1.8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59352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Toxic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959352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FE6"/>
                </a:solidFill>
                <a:latin typeface="Consolas"/>
              </a:rPr>
              <a:t>0.20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343400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Vol proxy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343400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FE6"/>
                </a:solidFill>
                <a:latin typeface="Consolas"/>
              </a:rPr>
              <a:t>0.27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727448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Decision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72744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FE6"/>
                </a:solidFill>
                <a:latin typeface="Consolas"/>
              </a:rPr>
              <a:t>1,596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111496"/>
            <a:ext cx="1645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9A86"/>
                </a:solidFill>
                <a:latin typeface="Consolas"/>
              </a:rPr>
              <a:t>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5111496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FE6"/>
                </a:solidFill>
                <a:latin typeface="Consolas"/>
              </a:rPr>
              <a:t>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73a7ce90a88511f19d76d7bc1d76d6bc" pid="2" fmtid="{D5CDD505-2E9C-101B-9397-08002B2CF9AE}">
    <vt:lpwstr>CWMKuCX5SV1UQL2tw46chOcCHkgHjME0rI0HRBJFFMyFH4dVBmnh2Bbwo/cOPn1ZUe6fzhHtDFD/4IjH68FerVl9w==</vt:lpwstr>
  </property>
</Properties>
</file>